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rimson Pro Bold" panose="020B0604020202020204" charset="0"/>
      <p:regular r:id="rId13"/>
    </p:embeddedFont>
    <p:embeddedFont>
      <p:font typeface="Open Sans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rimson Pro Light" panose="020B0604020202020204" charset="0"/>
      <p:regular r:id="rId19"/>
    </p:embeddedFont>
    <p:embeddedFont>
      <p:font typeface="Inter" panose="020B0604020202020204" charset="0"/>
      <p:regular r:id="rId20"/>
    </p:embeddedFont>
    <p:embeddedFont>
      <p:font typeface="Open Sans 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4046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2.svg"/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-2.svg"/><Relationship Id="rId5" Type="http://schemas.openxmlformats.org/officeDocument/2006/relationships/image" Target="../media/image-3-2.svg"/><Relationship Id="rId4" Type="http://schemas.openxmlformats.org/officeDocument/2006/relationships/image" Target="../media/image-3-2.sv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6.sv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4-4.svg"/><Relationship Id="rId11" Type="http://schemas.openxmlformats.org/officeDocument/2006/relationships/image" Target="../media/image3.png"/><Relationship Id="rId5" Type="http://schemas.openxmlformats.org/officeDocument/2006/relationships/image" Target="../media/image7.png"/><Relationship Id="rId10" Type="http://schemas.openxmlformats.org/officeDocument/2006/relationships/image" Target="../media/image-4-8.svg"/><Relationship Id="rId4" Type="http://schemas.openxmlformats.org/officeDocument/2006/relationships/image" Target="../media/image-4-2.sv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5-6.svg"/><Relationship Id="rId13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openxmlformats.org/officeDocument/2006/relationships/image" Target="../media/image-5-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5-4.svg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5" Type="http://schemas.openxmlformats.org/officeDocument/2006/relationships/image" Target="../media/image3.png"/><Relationship Id="rId10" Type="http://schemas.openxmlformats.org/officeDocument/2006/relationships/image" Target="../media/image-5-8.svg"/><Relationship Id="rId4" Type="http://schemas.openxmlformats.org/officeDocument/2006/relationships/image" Target="../media/image-5-2.svg"/><Relationship Id="rId9" Type="http://schemas.openxmlformats.org/officeDocument/2006/relationships/image" Target="../media/image13.png"/><Relationship Id="rId14" Type="http://schemas.openxmlformats.org/officeDocument/2006/relationships/image" Target="../media/image-5-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-8-3.svg"/><Relationship Id="rId18" Type="http://schemas.openxmlformats.org/officeDocument/2006/relationships/image" Target="../media/image3.png"/><Relationship Id="rId3" Type="http://schemas.openxmlformats.org/officeDocument/2006/relationships/image" Target="../media/image23.jpeg"/><Relationship Id="rId7" Type="http://schemas.openxmlformats.org/officeDocument/2006/relationships/image" Target="../media/image-8-3.svg"/><Relationship Id="rId17" Type="http://schemas.openxmlformats.org/officeDocument/2006/relationships/image" Target="../media/image-8-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8-3.svg"/><Relationship Id="rId11" Type="http://schemas.openxmlformats.org/officeDocument/2006/relationships/image" Target="../media/image-8-3.svg"/><Relationship Id="rId5" Type="http://schemas.openxmlformats.org/officeDocument/2006/relationships/image" Target="../media/image-8-3.svg"/><Relationship Id="rId15" Type="http://schemas.openxmlformats.org/officeDocument/2006/relationships/image" Target="../media/image-8-3.svg"/><Relationship Id="rId4" Type="http://schemas.openxmlformats.org/officeDocument/2006/relationships/image" Target="../media/image24.png"/><Relationship Id="rId9" Type="http://schemas.openxmlformats.org/officeDocument/2006/relationships/image" Target="../media/image-8-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github.com/Thabassum11/AI-Smart-Bug-Analyzer-Fix-Advis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1591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AI Smart Bug Analyzer &amp; Fix Advisor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14489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Infosys Springboard Internship Project · Milestone 1 Submission</a:t>
            </a:r>
            <a:endParaRPr lang="en-US" sz="1100" dirty="0"/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</a:t>
            </a:r>
            <a:r>
              <a:rPr lang="en-US" sz="110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00" b="1" dirty="0" err="1" smtClean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Thabassum</a:t>
            </a:r>
            <a:r>
              <a:rPr lang="en-US" sz="1100" b="1" dirty="0" smtClean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 </a:t>
            </a:r>
            <a:r>
              <a:rPr lang="en-US" sz="11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Ara</a:t>
            </a:r>
            <a:endParaRPr lang="en-US" sz="11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9376" y="4751591"/>
            <a:ext cx="1054699" cy="3170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757014"/>
            <a:ext cx="1208559" cy="215354"/>
          </a:xfrm>
          <a:prstGeom prst="roundRect">
            <a:avLst>
              <a:gd name="adj" fmla="val 22119"/>
            </a:avLst>
          </a:prstGeom>
          <a:solidFill>
            <a:srgbClr val="EBE2E0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799505"/>
            <a:ext cx="149564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OVERVIEW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02907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What This Project Does</a:t>
            </a:r>
            <a:endParaRPr lang="en-US" sz="2750" dirty="0"/>
          </a:p>
        </p:txBody>
      </p:sp>
      <p:sp>
        <p:nvSpPr>
          <p:cNvPr id="6" name="Shape 3"/>
          <p:cNvSpPr/>
          <p:nvPr/>
        </p:nvSpPr>
        <p:spPr>
          <a:xfrm>
            <a:off x="496119" y="1684660"/>
            <a:ext cx="2290465" cy="1506810"/>
          </a:xfrm>
          <a:prstGeom prst="roundRect">
            <a:avLst>
              <a:gd name="adj" fmla="val 395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640" y="1831181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RAG-Powered Analysis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2640" y="2137693"/>
            <a:ext cx="19974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Retrieval Augmented Generation enables precise, context-aware bug analysis and fix recommendations.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8342" y="1684660"/>
            <a:ext cx="2290539" cy="1506810"/>
          </a:xfrm>
          <a:prstGeom prst="roundRect">
            <a:avLst>
              <a:gd name="adj" fmla="val 395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74863" y="1831181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Multi-Source Input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074863" y="2137693"/>
            <a:ext cx="19974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Analyzes bug reports, system logs, and stack traces from diverse software projects.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6119" y="3333229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640" y="3479750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AI Fix Recommendations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2640" y="3786262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Automatically recommends fixes by learning from historical defect patterns and similar past bugs.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16062"/>
            <a:ext cx="1357461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835E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1158553"/>
            <a:ext cx="164455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8812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Challenge in Bug Analysis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6119" y="2043708"/>
            <a:ext cx="1931566" cy="1983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3127" y="2204517"/>
            <a:ext cx="153374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Time-Consuming Manual Analysis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3127" y="2732484"/>
            <a:ext cx="153374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Engineers spend hours diagnosing bugs that could be automated with AI assistance.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569443" y="2043708"/>
            <a:ext cx="1931640" cy="19836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06452" y="2204517"/>
            <a:ext cx="15338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Duplicate Bug Reports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806452" y="2732484"/>
            <a:ext cx="153382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Redundant reports waste development effort and inflate backlog size unnecessarily.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642842" y="2043708"/>
            <a:ext cx="1931640" cy="19836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79851" y="2204517"/>
            <a:ext cx="15338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Unsearchable Repositories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879851" y="2732484"/>
            <a:ext cx="153382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 bug databases lack semantic search, making past fixes difficult to retrieve.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716241" y="2043708"/>
            <a:ext cx="1931640" cy="19836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53250" y="2204517"/>
            <a:ext cx="15338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Complex Root Cause Identification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953250" y="2732484"/>
            <a:ext cx="153382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Pinpointing root causes demands significant domain expertise and manual investigation.</a:t>
            </a:r>
            <a:endParaRPr lang="en-US" sz="11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3285" y="4772532"/>
            <a:ext cx="1054699" cy="317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45331"/>
            <a:ext cx="783059" cy="215354"/>
          </a:xfrm>
          <a:prstGeom prst="roundRect">
            <a:avLst>
              <a:gd name="adj" fmla="val 22119"/>
            </a:avLst>
          </a:prstGeom>
          <a:solidFill>
            <a:srgbClr val="EBE2E0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787822"/>
            <a:ext cx="107014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OBJECTIVES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1738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Project Objectives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6119" y="1672977"/>
            <a:ext cx="283518" cy="283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133674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Automate Bug Analysis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440186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manual effort with intelligent, automated defect analysis pipelines.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660553" y="1672977"/>
            <a:ext cx="283518" cy="283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0553" y="2133674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Historical Defect Knowledge Base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660553" y="2440186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 searchable repository of past bugs and their resolutions for reuse.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96119" y="3177332"/>
            <a:ext cx="283518" cy="2835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6119" y="3638029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Duplicate Detection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96119" y="3944541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and flag duplicate bug reports using semantic similarity matching.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660553" y="3177332"/>
            <a:ext cx="283518" cy="28351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60553" y="3638029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AI Fix Recommendations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4660553" y="3944541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Suggest possible fixes by learning from historical defect resolution patterns.</a:t>
            </a:r>
            <a:endParaRPr lang="en-US" sz="11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9376" y="4826481"/>
            <a:ext cx="1054699" cy="3170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9472"/>
            <a:ext cx="1283494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835E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461962"/>
            <a:ext cx="157058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TECHNOLOGY STACK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9153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Tools &amp; Technologies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347118"/>
            <a:ext cx="1931566" cy="1841674"/>
          </a:xfrm>
          <a:prstGeom prst="roundRect">
            <a:avLst>
              <a:gd name="adj" fmla="val 3233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2640" y="1493639"/>
            <a:ext cx="425276" cy="425276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59619" y="1610544"/>
            <a:ext cx="191319" cy="1913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2640" y="2060674"/>
            <a:ext cx="16385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Python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2640" y="2367186"/>
            <a:ext cx="16385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language for all AI and backend logic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9443" y="1347118"/>
            <a:ext cx="1931640" cy="1841674"/>
          </a:xfrm>
          <a:prstGeom prst="roundRect">
            <a:avLst>
              <a:gd name="adj" fmla="val 3233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15964" y="1493639"/>
            <a:ext cx="425276" cy="425276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2832943" y="1610544"/>
            <a:ext cx="191319" cy="19131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15964" y="2060674"/>
            <a:ext cx="16385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715964" y="2367186"/>
            <a:ext cx="163859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web application interface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42842" y="1347118"/>
            <a:ext cx="1931640" cy="1841674"/>
          </a:xfrm>
          <a:prstGeom prst="roundRect">
            <a:avLst>
              <a:gd name="adj" fmla="val 3233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89363" y="1493639"/>
            <a:ext cx="425276" cy="425276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906342" y="1610544"/>
            <a:ext cx="191319" cy="19131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89363" y="2060674"/>
            <a:ext cx="16385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FAISS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789363" y="2367186"/>
            <a:ext cx="163859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High-speed vector similarity search engine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716241" y="1347118"/>
            <a:ext cx="1931640" cy="1841674"/>
          </a:xfrm>
          <a:prstGeom prst="roundRect">
            <a:avLst>
              <a:gd name="adj" fmla="val 3233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862763" y="1493639"/>
            <a:ext cx="425276" cy="425276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979741" y="1610544"/>
            <a:ext cx="191319" cy="19131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62763" y="2060674"/>
            <a:ext cx="163859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Sentence Transformers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862763" y="2588642"/>
            <a:ext cx="163859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Semantic text embedding generation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96119" y="3330550"/>
            <a:ext cx="4004965" cy="1393403"/>
          </a:xfrm>
          <a:prstGeom prst="roundRect">
            <a:avLst>
              <a:gd name="adj" fmla="val 4273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42640" y="3477071"/>
            <a:ext cx="425276" cy="425276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759619" y="3593976"/>
            <a:ext cx="191319" cy="19131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2640" y="4044107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GitHub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642640" y="4350618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 control and project repository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642842" y="3330550"/>
            <a:ext cx="4005039" cy="1393403"/>
          </a:xfrm>
          <a:prstGeom prst="roundRect">
            <a:avLst>
              <a:gd name="adj" fmla="val 4273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789363" y="3477071"/>
            <a:ext cx="425276" cy="425276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4906342" y="3593976"/>
            <a:ext cx="191319" cy="19131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789363" y="4044107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RAG Architecture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4789363" y="4350618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Retrieval Augmented Generation pipeline</a:t>
            </a:r>
            <a:endParaRPr lang="en-US" sz="1100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16365" y="4809008"/>
            <a:ext cx="1169990" cy="3170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5574"/>
            <a:ext cx="608186" cy="134615"/>
          </a:xfrm>
          <a:prstGeom prst="roundRect">
            <a:avLst>
              <a:gd name="adj" fmla="val 22116"/>
            </a:avLst>
          </a:prstGeom>
          <a:solidFill>
            <a:srgbClr val="EBE2E0"/>
          </a:solidFill>
          <a:ln/>
        </p:spPr>
      </p:sp>
      <p:sp>
        <p:nvSpPr>
          <p:cNvPr id="3" name="Text 1"/>
          <p:cNvSpPr/>
          <p:nvPr/>
        </p:nvSpPr>
        <p:spPr>
          <a:xfrm>
            <a:off x="549250" y="452140"/>
            <a:ext cx="959123" cy="81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582290"/>
            <a:ext cx="815176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System Architecture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32346" y="942231"/>
            <a:ext cx="4095378" cy="2374999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83" y="983996"/>
            <a:ext cx="3858470" cy="2333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0898" y="3152254"/>
            <a:ext cx="4375472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4896370" y="1541042"/>
            <a:ext cx="3967832" cy="56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pipeline flows from bug ingestion through semantic vector search to AI-powered multi-agent analysis, delivering precise fix recommendations to developers.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96119" y="3379515"/>
            <a:ext cx="17718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496119" y="3520529"/>
            <a:ext cx="4048199" cy="9525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1" name="Text 8"/>
          <p:cNvSpPr/>
          <p:nvPr/>
        </p:nvSpPr>
        <p:spPr>
          <a:xfrm>
            <a:off x="496119" y="3583856"/>
            <a:ext cx="4048199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Bug Submission Module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599682" y="3379515"/>
            <a:ext cx="17718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4599682" y="3520529"/>
            <a:ext cx="4048199" cy="9525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4" name="Text 11"/>
          <p:cNvSpPr/>
          <p:nvPr/>
        </p:nvSpPr>
        <p:spPr>
          <a:xfrm>
            <a:off x="4599682" y="3583856"/>
            <a:ext cx="4048199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Preprocessing &amp; Embedding Generation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96119" y="3844082"/>
            <a:ext cx="17718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496119" y="3985096"/>
            <a:ext cx="4048199" cy="9525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7" name="Text 14"/>
          <p:cNvSpPr/>
          <p:nvPr/>
        </p:nvSpPr>
        <p:spPr>
          <a:xfrm>
            <a:off x="496119" y="4048423"/>
            <a:ext cx="4048199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FAISS Vector Store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599682" y="3844082"/>
            <a:ext cx="17718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4599682" y="3985096"/>
            <a:ext cx="4048199" cy="9525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20" name="Text 17"/>
          <p:cNvSpPr/>
          <p:nvPr/>
        </p:nvSpPr>
        <p:spPr>
          <a:xfrm>
            <a:off x="4599682" y="4048423"/>
            <a:ext cx="4048199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Similarity Search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96119" y="4308649"/>
            <a:ext cx="17718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496119" y="4449663"/>
            <a:ext cx="4048199" cy="9525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23" name="Text 20"/>
          <p:cNvSpPr/>
          <p:nvPr/>
        </p:nvSpPr>
        <p:spPr>
          <a:xfrm>
            <a:off x="496119" y="4512990"/>
            <a:ext cx="4048199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Multi-Agent Analysis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599682" y="4308649"/>
            <a:ext cx="17718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06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4599682" y="4449663"/>
            <a:ext cx="4048199" cy="9525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26" name="Text 23"/>
          <p:cNvSpPr/>
          <p:nvPr/>
        </p:nvSpPr>
        <p:spPr>
          <a:xfrm>
            <a:off x="4599682" y="4512990"/>
            <a:ext cx="4048199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Fix Recommendation</a:t>
            </a:r>
            <a:endParaRPr lang="en-US" sz="85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417" y="4789950"/>
            <a:ext cx="1148583" cy="3170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4160"/>
            <a:ext cx="558626" cy="148010"/>
          </a:xfrm>
          <a:prstGeom prst="roundRect">
            <a:avLst>
              <a:gd name="adj" fmla="val 22126"/>
            </a:avLst>
          </a:prstGeom>
          <a:noFill/>
          <a:ln w="4763">
            <a:solidFill>
              <a:srgbClr val="835E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4534" y="453330"/>
            <a:ext cx="898996" cy="8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WORKFLOW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98959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Bug Analysis Pipeline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96119" y="1003920"/>
            <a:ext cx="86089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structured six-step pipeline ensures every bug report is processed, matched, and analyzed before a fix recommendation is generated.</a:t>
            </a:r>
            <a:endParaRPr lang="en-US" sz="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10866"/>
            <a:ext cx="487263" cy="5847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0354" y="1308274"/>
            <a:ext cx="759752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User Uploads Bug Report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795611"/>
            <a:ext cx="487263" cy="58474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0354" y="1893019"/>
            <a:ext cx="759752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Processing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380357"/>
            <a:ext cx="487263" cy="5847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0354" y="2477765"/>
            <a:ext cx="759752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Embedding Creation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2965103"/>
            <a:ext cx="487263" cy="58474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0354" y="3062511"/>
            <a:ext cx="759752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Similarity Matching</a:t>
            </a:r>
            <a:endParaRPr lang="en-US" sz="9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549848"/>
            <a:ext cx="487263" cy="58474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50354" y="3647256"/>
            <a:ext cx="759752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Bug Analysis</a:t>
            </a:r>
            <a:endParaRPr lang="en-US" sz="9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119" y="4134594"/>
            <a:ext cx="487263" cy="58474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0354" y="4232002"/>
            <a:ext cx="759752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Recommendation Generation</a:t>
            </a:r>
            <a:endParaRPr lang="en-US" sz="95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0383" y="4815902"/>
            <a:ext cx="1054699" cy="3170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8951"/>
            <a:ext cx="592336" cy="144735"/>
          </a:xfrm>
          <a:prstGeom prst="roundRect">
            <a:avLst>
              <a:gd name="adj" fmla="val 22112"/>
            </a:avLst>
          </a:prstGeom>
          <a:solidFill>
            <a:srgbClr val="EBE2E0"/>
          </a:solidFill>
          <a:ln/>
        </p:spPr>
      </p:sp>
      <p:sp>
        <p:nvSpPr>
          <p:cNvPr id="3" name="Text 1"/>
          <p:cNvSpPr/>
          <p:nvPr/>
        </p:nvSpPr>
        <p:spPr>
          <a:xfrm>
            <a:off x="553269" y="447526"/>
            <a:ext cx="935236" cy="87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MILESTONE 1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89285"/>
            <a:ext cx="8151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Implementation Completed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30" y="1195760"/>
            <a:ext cx="4895007" cy="23805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6" name="Text 3"/>
          <p:cNvSpPr/>
          <p:nvPr/>
        </p:nvSpPr>
        <p:spPr>
          <a:xfrm>
            <a:off x="1682745" y="3770547"/>
            <a:ext cx="5674519" cy="321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Repository Screenshot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950521" y="1046931"/>
            <a:ext cx="270204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Research Completed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986239" y="1272480"/>
            <a:ext cx="142875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60083" y="1267718"/>
            <a:ext cx="2392487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Defect Analysis Workflow</a:t>
            </a:r>
            <a:endParaRPr lang="en-US" sz="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986239" y="1690985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60083" y="1686223"/>
            <a:ext cx="2392487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RAG Architecture</a:t>
            </a:r>
            <a:endParaRPr lang="en-US" sz="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986239" y="2109490"/>
            <a:ext cx="142875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60083" y="2104727"/>
            <a:ext cx="2392487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Semantic Similarity Techniques</a:t>
            </a:r>
            <a:endParaRPr lang="en-US" sz="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5986239" y="2527995"/>
            <a:ext cx="142875" cy="1428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260083" y="2523232"/>
            <a:ext cx="2392487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Bug Report Structures</a:t>
            </a:r>
            <a:endParaRPr lang="en-US" sz="750" dirty="0"/>
          </a:p>
        </p:txBody>
      </p:sp>
      <p:sp>
        <p:nvSpPr>
          <p:cNvPr id="16" name="Text 9"/>
          <p:cNvSpPr/>
          <p:nvPr/>
        </p:nvSpPr>
        <p:spPr>
          <a:xfrm>
            <a:off x="5950521" y="2885703"/>
            <a:ext cx="270204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Development Delivered</a:t>
            </a:r>
            <a:endParaRPr lang="en-US" sz="9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5986239" y="3111252"/>
            <a:ext cx="142875" cy="14287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260083" y="3106489"/>
            <a:ext cx="2392487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Bug Submission Module</a:t>
            </a:r>
            <a:endParaRPr lang="en-US" sz="7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5986239" y="3529757"/>
            <a:ext cx="142875" cy="14287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260083" y="3524994"/>
            <a:ext cx="2392487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DeepTriage Dataset Processing</a:t>
            </a:r>
            <a:endParaRPr lang="en-US" sz="7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5986239" y="3948261"/>
            <a:ext cx="142875" cy="142875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260083" y="3943499"/>
            <a:ext cx="2392487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FAISS Vector Store Creation</a:t>
            </a:r>
            <a:endParaRPr lang="en-US" sz="75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5986239" y="4366766"/>
            <a:ext cx="142875" cy="142875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260083" y="4362004"/>
            <a:ext cx="2392487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Repository Setup</a:t>
            </a:r>
            <a:endParaRPr lang="en-US" sz="75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2396" y="4826481"/>
            <a:ext cx="1141603" cy="3170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0468"/>
            <a:ext cx="1338858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835E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452958"/>
            <a:ext cx="162594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PROGRESS &amp; RESULTS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8252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Current Progress &amp; Achievements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408956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496119" y="2053903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Streamlit App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360414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100" dirty="0"/>
              <a:t>Bug Submission Module Planned and Partially </a:t>
            </a:r>
            <a:r>
              <a:rPr lang="en-US" sz="11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Implemented</a:t>
            </a:r>
            <a:endParaRPr lang="en-US" sz="11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60553" y="1408956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3650" dirty="0"/>
          </a:p>
        </p:txBody>
      </p:sp>
      <p:sp>
        <p:nvSpPr>
          <p:cNvPr id="9" name="Text 7"/>
          <p:cNvSpPr/>
          <p:nvPr/>
        </p:nvSpPr>
        <p:spPr>
          <a:xfrm>
            <a:off x="4660553" y="2053903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Dataset Processed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60553" y="2360414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DeepTriage dataset successfully ingested and cleaned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2941588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3650" dirty="0"/>
          </a:p>
        </p:txBody>
      </p:sp>
      <p:sp>
        <p:nvSpPr>
          <p:cNvPr id="12" name="Text 10"/>
          <p:cNvSpPr/>
          <p:nvPr/>
        </p:nvSpPr>
        <p:spPr>
          <a:xfrm>
            <a:off x="496119" y="3586535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Knowledge Base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6119" y="3893046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Historical defect knowledge base initialized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0553" y="2941588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3650" dirty="0"/>
          </a:p>
        </p:txBody>
      </p:sp>
      <p:sp>
        <p:nvSpPr>
          <p:cNvPr id="15" name="Text 13"/>
          <p:cNvSpPr/>
          <p:nvPr/>
        </p:nvSpPr>
        <p:spPr>
          <a:xfrm>
            <a:off x="4660553" y="3586535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FAISS Index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60553" y="3893046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Vector index successfully created and validated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119" y="4279329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repository is actively maintained with version control, commit history, and documentation for full transparency and reproducibility.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9827"/>
            <a:ext cx="691530" cy="168250"/>
          </a:xfrm>
          <a:prstGeom prst="roundRect">
            <a:avLst>
              <a:gd name="adj" fmla="val 22118"/>
            </a:avLst>
          </a:prstGeom>
          <a:solidFill>
            <a:srgbClr val="EBE2E0"/>
          </a:solidFill>
          <a:ln/>
        </p:spPr>
      </p:sp>
      <p:sp>
        <p:nvSpPr>
          <p:cNvPr id="3" name="Text 1"/>
          <p:cNvSpPr/>
          <p:nvPr/>
        </p:nvSpPr>
        <p:spPr>
          <a:xfrm>
            <a:off x="562570" y="433015"/>
            <a:ext cx="1015826" cy="10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WHAT'S NEXT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602679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Future Work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4564856" y="1078557"/>
            <a:ext cx="14288" cy="3185517"/>
          </a:xfrm>
          <a:prstGeom prst="roundRect">
            <a:avLst>
              <a:gd name="adj" fmla="val 325570"/>
            </a:avLst>
          </a:prstGeom>
          <a:solidFill>
            <a:srgbClr val="D1C8C6"/>
          </a:solidFill>
          <a:ln/>
        </p:spPr>
      </p:sp>
      <p:sp>
        <p:nvSpPr>
          <p:cNvPr id="6" name="Shape 4"/>
          <p:cNvSpPr/>
          <p:nvPr/>
        </p:nvSpPr>
        <p:spPr>
          <a:xfrm>
            <a:off x="4129460" y="1195983"/>
            <a:ext cx="332259" cy="14288"/>
          </a:xfrm>
          <a:prstGeom prst="roundRect">
            <a:avLst>
              <a:gd name="adj" fmla="val 325570"/>
            </a:avLst>
          </a:prstGeom>
          <a:solidFill>
            <a:srgbClr val="D1C8C6"/>
          </a:solidFill>
          <a:ln/>
        </p:spPr>
      </p:sp>
      <p:sp>
        <p:nvSpPr>
          <p:cNvPr id="7" name="Shape 5"/>
          <p:cNvSpPr/>
          <p:nvPr/>
        </p:nvSpPr>
        <p:spPr>
          <a:xfrm>
            <a:off x="4447431" y="1078557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8954" y="1099319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6119" y="1116583"/>
            <a:ext cx="35221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Expand Knowledge Base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6119" y="1341462"/>
            <a:ext cx="352216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9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Scale the historical defect repository with more datasets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82282" y="1811982"/>
            <a:ext cx="332259" cy="14288"/>
          </a:xfrm>
          <a:prstGeom prst="roundRect">
            <a:avLst>
              <a:gd name="adj" fmla="val 325570"/>
            </a:avLst>
          </a:prstGeom>
          <a:solidFill>
            <a:srgbClr val="D1C8C6"/>
          </a:solidFill>
          <a:ln/>
        </p:spPr>
      </p:sp>
      <p:sp>
        <p:nvSpPr>
          <p:cNvPr id="12" name="Shape 10"/>
          <p:cNvSpPr/>
          <p:nvPr/>
        </p:nvSpPr>
        <p:spPr>
          <a:xfrm>
            <a:off x="4447431" y="1694557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8954" y="1715319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5715" y="1732583"/>
            <a:ext cx="35221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Duplicate Detection Agent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25715" y="1957462"/>
            <a:ext cx="352216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semantic duplicate bug report identification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29460" y="2360488"/>
            <a:ext cx="332259" cy="14288"/>
          </a:xfrm>
          <a:prstGeom prst="roundRect">
            <a:avLst>
              <a:gd name="adj" fmla="val 325570"/>
            </a:avLst>
          </a:prstGeom>
          <a:solidFill>
            <a:srgbClr val="D1C8C6"/>
          </a:solidFill>
          <a:ln/>
        </p:spPr>
      </p:sp>
      <p:sp>
        <p:nvSpPr>
          <p:cNvPr id="17" name="Shape 15"/>
          <p:cNvSpPr/>
          <p:nvPr/>
        </p:nvSpPr>
        <p:spPr>
          <a:xfrm>
            <a:off x="4447431" y="2243063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8954" y="2263825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6119" y="2281089"/>
            <a:ext cx="35221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Root Cause Analysis Agent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6119" y="2505968"/>
            <a:ext cx="352216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9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AI agent for automated root cause identification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82282" y="2908995"/>
            <a:ext cx="332259" cy="14288"/>
          </a:xfrm>
          <a:prstGeom prst="roundRect">
            <a:avLst>
              <a:gd name="adj" fmla="val 325570"/>
            </a:avLst>
          </a:prstGeom>
          <a:solidFill>
            <a:srgbClr val="D1C8C6"/>
          </a:solidFill>
          <a:ln/>
        </p:spPr>
      </p:sp>
      <p:sp>
        <p:nvSpPr>
          <p:cNvPr id="22" name="Shape 20"/>
          <p:cNvSpPr/>
          <p:nvPr/>
        </p:nvSpPr>
        <p:spPr>
          <a:xfrm>
            <a:off x="4447431" y="2791569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8954" y="2812331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5715" y="2829595"/>
            <a:ext cx="35221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Remediation Agent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25715" y="3054474"/>
            <a:ext cx="352216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agent for automated fix suggestion and validation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29460" y="3457501"/>
            <a:ext cx="332259" cy="14288"/>
          </a:xfrm>
          <a:prstGeom prst="roundRect">
            <a:avLst>
              <a:gd name="adj" fmla="val 325570"/>
            </a:avLst>
          </a:prstGeom>
          <a:solidFill>
            <a:srgbClr val="D1C8C6"/>
          </a:solidFill>
          <a:ln/>
        </p:spPr>
      </p:sp>
      <p:sp>
        <p:nvSpPr>
          <p:cNvPr id="27" name="Shape 25"/>
          <p:cNvSpPr/>
          <p:nvPr/>
        </p:nvSpPr>
        <p:spPr>
          <a:xfrm>
            <a:off x="4447431" y="3340075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8954" y="3360837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6119" y="3378101"/>
            <a:ext cx="35221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Multi-Agent AI Advisor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6119" y="3602980"/>
            <a:ext cx="352216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9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all agents into a complete AI bug advisor system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96119" y="4361408"/>
            <a:ext cx="8151763" cy="382191"/>
          </a:xfrm>
          <a:prstGeom prst="roundRect">
            <a:avLst>
              <a:gd name="adj" fmla="val 12171"/>
            </a:avLst>
          </a:prstGeom>
          <a:solidFill>
            <a:srgbClr val="EBE2E0"/>
          </a:solidFill>
          <a:ln/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47" y="4507706"/>
            <a:ext cx="138410" cy="11072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55985" y="4475559"/>
            <a:ext cx="8138368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🔗 </a:t>
            </a:r>
            <a:r>
              <a:rPr lang="en-US" sz="8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GitHub Repository:</a:t>
            </a: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850" b="1" u="sng" dirty="0">
                <a:solidFill>
                  <a:srgbClr val="835E5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https://github.com/Thabassum11/AI-Smart-Bug-Analyzer-Fix-Advisor</a:t>
            </a:r>
            <a:endParaRPr lang="en-US" sz="850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2474" y="4802519"/>
            <a:ext cx="1169524" cy="3170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35E5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512</Words>
  <Application>Microsoft Office PowerPoint</Application>
  <PresentationFormat>On-screen Show (16:9)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Crimson Pro Bold</vt:lpstr>
      <vt:lpstr>Open Sans</vt:lpstr>
      <vt:lpstr>Calibri</vt:lpstr>
      <vt:lpstr>Crimson Pro Light</vt:lpstr>
      <vt:lpstr>Arial</vt:lpstr>
      <vt:lpstr>Inter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Thabassum Ara</dc:creator>
  <cp:lastModifiedBy>Microsoft account</cp:lastModifiedBy>
  <cp:revision>4</cp:revision>
  <dcterms:created xsi:type="dcterms:W3CDTF">2026-07-09T19:33:39Z</dcterms:created>
  <dcterms:modified xsi:type="dcterms:W3CDTF">2026-07-09T19:48:01Z</dcterms:modified>
</cp:coreProperties>
</file>